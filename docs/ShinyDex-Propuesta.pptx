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 propuesta es ShinyDex: una aplicación Android para llevar el registro de cazas de Pokémon shiny en Generación II. Voy a explicar el problema, el valor, las funciones que construiré, cómo la construiré, la lógica propia, la estrategia DevSecOps y el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es medible: uno entre 8 192. Hoy la cuenta se lleva a mano, sin saber la probabilidad real y sin las reglas de Gen II a la vista. Mi app resolverá esas tres cosas y funcionará sin conexión. Además incluiré caza compartida: el jugador compartirá un enlace y otra persona se unirá a la misma caza, sumando encuentros entre los dos. Eso convierte una actividad solitaria y larga en algo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serán las cuatro funciones. El registro de cazas es el corazón: la especie, el juego y el método definirán la probabilidad que usará todo lo demás. El detalle calculará el avance, los mensajes aparecerán solos cada cien encuentros y el Pokédex permitirá ver cómo se ve el shiny que se está buscando.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Será una app Android nativa en Kotlin con Compose y arquitectura MVVM en cuatro capas. Lo importante: la lógica vivirá en los repositorios y los modelos, no en la red. Room guardará las cazas y cacheará el Pokédex, por eso servirá sin 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clave del criterio: la app no filtrará ni mostrará datos de una API, calculará. Tres decisiones automáticas y dos procesos automatizados. PokéAPI será cerca del quince por ciento: la fuente del catálogo, no la solución. Sin red, la app seguirá sirviendo para cazar.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Aplicaré DevSecOps desde el inicio, no al final. Versionaré con Git y GitHub, con revisión por pull request. Correré análisis estático con detekt y Lint, análisis de dependencias con OWASP Dependency-Check y análisis dinámico con MobSF y ZAP, todo dentro del pipeline de Jenkins. Además la app tendrá controles propios: solo HTTPS, base de datos privada y permisos mínimos.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tiene cuatro pasos. Primero el prototipo y la base, después la funcionalidad completa, luego el pipeline de DevSecOps y al final la caza compartida por enlace con el cierre. Ya tengo un prototipo navegable con las cuatro pantallas, el modelo de datos y el catálogo de métodos definidos, así que la parte más riesgosa está encaminada. Cada paso lo planeo en una semana, ajustando al calendario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EZer\AppData\Local\Temp\claude\C--Users-REZer-OneDrive-Documents-avance\839dfa0c-4f16-478c-8d69-b141916bcacb\scratchpad\poke\art-250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822960" y="2286000"/>
            <a:ext cx="5120640" cy="5120640"/>
          </a:xfrm>
          <a:prstGeom prst="rect">
            <a:avLst/>
          </a:prstGeom>
        </p:spPr>
      </p:pic>
      <p:pic>
        <p:nvPicPr>
          <p:cNvPr id="3" name="Image 1" descr="C:\Users\REZer\AppData\Local\Temp\claude\C--Users-REZer-OneDrive-Documents-avance\839dfa0c-4f16-478c-8d69-b141916bcacb\scratchpad\poke\art-249.png">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3931920" y="91440"/>
            <a:ext cx="4023360" cy="4023360"/>
          </a:xfrm>
          <a:prstGeom prst="rect">
            <a:avLst/>
          </a:prstGeom>
        </p:spPr>
      </p:pic>
      <p:pic>
        <p:nvPicPr>
          <p:cNvPr id="4" name="Image 2" descr="C:\Users\REZer\AppData\Local\Temp\claude\C--Users-REZer-OneDrive-Documents-avance\839dfa0c-4f16-478c-8d69-b141916bcacb\scratchpad\poke\art-251.png">    </p:cNvPr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6858000" y="4846320"/>
            <a:ext cx="2011680" cy="2011680"/>
          </a:xfrm>
          <a:prstGeom prst="rect">
            <a:avLst/>
          </a:prstGeom>
        </p:spPr>
      </p:pic>
      <p:pic>
        <p:nvPicPr>
          <p:cNvPr id="5" name="Image 3" descr="C:\Users\REZer\AppData\Local\Temp\claude\C--Users-REZer-OneDrive-Documents-avance\839dfa0c-4f16-478c-8d69-b141916bcacb\scratchpad\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17320"/>
            <a:ext cx="3017520" cy="301752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68680" y="1737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PROYECTO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822960" y="20574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ShinyDex</a:t>
            </a:r>
            <a:endParaRPr lang="en-US" sz="6000" dirty="0"/>
          </a:p>
        </p:txBody>
      </p:sp>
      <p:sp>
        <p:nvSpPr>
          <p:cNvPr id="8" name="Text 2"/>
          <p:cNvSpPr txBox="1"/>
          <p:nvPr/>
        </p:nvSpPr>
        <p:spPr>
          <a:xfrm>
            <a:off x="868680" y="31089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Rastreador de caza shiny para Pokémon Generación II (por ahora)</a:t>
            </a:r>
            <a:endParaRPr lang="en-US" sz="1900" dirty="0"/>
          </a:p>
        </p:txBody>
      </p:sp>
      <p:sp>
        <p:nvSpPr>
          <p:cNvPr id="9" name="Text 3"/>
          <p:cNvSpPr txBox="1"/>
          <p:nvPr/>
        </p:nvSpPr>
        <p:spPr>
          <a:xfrm>
            <a:off x="868680" y="36393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Android en Kotlin · Gold · Silver · Crystal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868680" y="39593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Antonio Espinosa Tellez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868680" y="4389120"/>
            <a:ext cx="832104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68680" y="438912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1828800" y="4389120"/>
            <a:ext cx="1696212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828800" y="4389120"/>
            <a:ext cx="1696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653028" y="4389120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3653028" y="43891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421124" y="438912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421124" y="438912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PokéAPI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77256" y="438912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477256" y="438912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050" dirty="0"/>
          </a:p>
        </p:txBody>
      </p:sp>
      <p:pic>
        <p:nvPicPr>
          <p:cNvPr id="21" name="Image 4" descr="C:\Users\REZer\AppData\Local\Temp\claude\C--Users-REZer-OneDrive-Documents-avance\839dfa0c-4f16-478c-8d69-b141916bcacb\scratchpad\poke\xspr-152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68680" y="5806440"/>
            <a:ext cx="658368" cy="658368"/>
          </a:xfrm>
          <a:prstGeom prst="rect">
            <a:avLst/>
          </a:prstGeom>
        </p:spPr>
      </p:pic>
      <p:pic>
        <p:nvPicPr>
          <p:cNvPr id="22" name="Image 5" descr="C:\Users\REZer\AppData\Local\Temp\claude\C--Users-REZer-OneDrive-Documents-avance\839dfa0c-4f16-478c-8d69-b141916bcacb\scratchpad\poke\xspr-155.png">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1728216" y="5806440"/>
            <a:ext cx="658368" cy="658368"/>
          </a:xfrm>
          <a:prstGeom prst="rect">
            <a:avLst/>
          </a:prstGeom>
        </p:spPr>
      </p:pic>
      <p:pic>
        <p:nvPicPr>
          <p:cNvPr id="23" name="Image 6" descr="C:\Users\REZer\AppData\Local\Temp\claude\C--Users-REZer-OneDrive-Documents-avance\839dfa0c-4f16-478c-8d69-b141916bcacb\scratchpad\poke\xspr-158.png">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2587752" y="5806440"/>
            <a:ext cx="658368" cy="658368"/>
          </a:xfrm>
          <a:prstGeom prst="rect">
            <a:avLst/>
          </a:prstGeom>
        </p:spPr>
      </p:pic>
      <p:pic>
        <p:nvPicPr>
          <p:cNvPr id="24" name="Image 7" descr="C:\Users\REZer\AppData\Local\Temp\claude\C--Users-REZer-OneDrive-Documents-avance\839dfa0c-4f16-478c-8d69-b141916bcacb\scratchpad\poke\xspr-172.png">    </p:cNvPr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3447288" y="5806440"/>
            <a:ext cx="658368" cy="658368"/>
          </a:xfrm>
          <a:prstGeom prst="rect">
            <a:avLst/>
          </a:prstGeom>
        </p:spPr>
      </p:pic>
      <p:pic>
        <p:nvPicPr>
          <p:cNvPr id="25" name="Image 8" descr="C:\Users\REZer\AppData\Local\Temp\claude\C--Users-REZer-OneDrive-Documents-avance\839dfa0c-4f16-478c-8d69-b141916bcacb\scratchpad\poke\xspr-175.png">    </p:cNvPr>
          <p:cNvPicPr>
            <a:picLocks noChangeAspect="1"/>
          </p:cNvPicPr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4306824" y="580644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EZer\AppData\Local\Temp\claude\C--Users-REZer-OneDrive-Documents-avance\839dfa0c-4f16-478c-8d69-b141916bcacb\scratchpad\logo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0607040" y="137160"/>
            <a:ext cx="1371600" cy="1371600"/>
          </a:xfrm>
          <a:prstGeom prst="rect">
            <a:avLst/>
          </a:prstGeom>
        </p:spPr>
      </p:pic>
      <p:pic>
        <p:nvPicPr>
          <p:cNvPr id="3" name="Image 1" descr="C:\Users\REZer\AppData\Local\Temp\claude\C--Users-REZer-OneDrive-Documents-avance\839dfa0c-4f16-478c-8d69-b141916bcacb\scratchpad\poke\art-197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37160" y="4892040"/>
            <a:ext cx="1920240" cy="1920240"/>
          </a:xfrm>
          <a:prstGeom prst="rect">
            <a:avLst/>
          </a:prstGeom>
        </p:spPr>
      </p:pic>
      <p:pic>
        <p:nvPicPr>
          <p:cNvPr id="4" name="Image 2" descr="C:\Users\REZer\AppData\Local\Temp\claude\C--Users-REZer-OneDrive-Documents-avance\839dfa0c-4f16-478c-8d69-b141916bcacb\scratchpad\poke\art-196.png">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874520" y="5029200"/>
            <a:ext cx="1737360" cy="17373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48640" y="384048"/>
            <a:ext cx="9265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 2 · DESCRIPCIÓN Y VALOR</a:t>
            </a:r>
            <a:endParaRPr lang="en-US" sz="11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640080"/>
            <a:ext cx="9265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problema voy a resolver?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13716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Gold, Silver y Crystal un shiny aparece una vez cada 8 192 encuentros: la caza dura semanas y la cuenta se lleva a mano.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1097280" y="2148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la cuenta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097280" y="24414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o notas del celular: si se borran, se pierde el progreso.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108960"/>
            <a:ext cx="402336" cy="402336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8640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la probabilidad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097280" y="33558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no conoce su avance real ni qué método le conviene.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023360"/>
            <a:ext cx="402336" cy="402336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4864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097280" y="3977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están dispersas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097280" y="42702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Gen II viven en wikis, no en la mano del jugador.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949440" y="1371600"/>
            <a:ext cx="4693615" cy="1280160"/>
          </a:xfrm>
          <a:prstGeom prst="roundRect">
            <a:avLst>
              <a:gd name="adj" fmla="val 5714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949440" y="1463040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8192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7132320" y="214884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base en Generación II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949440" y="2834640"/>
            <a:ext cx="4693615" cy="1234440"/>
          </a:xfrm>
          <a:prstGeom prst="roundRect">
            <a:avLst>
              <a:gd name="adj" fmla="val 5926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205472" y="3017520"/>
            <a:ext cx="41815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LA USARÁ?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7205472" y="3310128"/>
            <a:ext cx="4181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de Gold, Silver y Crystal en consola, Virtual Console o emulador, y la comunidad de shiny hunting.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949440" y="4251960"/>
            <a:ext cx="4693615" cy="2011680"/>
          </a:xfrm>
          <a:prstGeom prst="roundRect">
            <a:avLst>
              <a:gd name="adj" fmla="val 3636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205472" y="4434840"/>
            <a:ext cx="41815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APORTARÁ?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7205472" y="4736592"/>
            <a:ext cx="418155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que no se perderá.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siempre visible.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Gen II aplicadas solas.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Funcionará sin internet.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Caza compartida: con un enlace, otra persona se unirá a la misma caza.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EZer\AppData\Local\Temp\claude\C--Users-REZer-OneDrive-Documents-avance\839dfa0c-4f16-478c-8d69-b141916bcacb\scratchpad\logo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0698480" y="914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265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FUNCIONALIDADES PRINCIPALES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9265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que voy a construir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533574" cy="3200400"/>
          </a:xfrm>
          <a:prstGeom prst="roundRect">
            <a:avLst>
              <a:gd name="adj" fmla="val 2887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pic>
        <p:nvPicPr>
          <p:cNvPr id="6" name="Image 1" descr="C:\Users\REZer\AppData\Local\Temp\claude\C--Users-REZer-OneDrive-Documents-avance\839dfa0c-4f16-478c-8d69-b141916bcacb\scratchpad\poke\xspr-1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27" y="1572768"/>
            <a:ext cx="1143000" cy="1143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808" y="1572768"/>
            <a:ext cx="365760" cy="365760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713232" y="2852928"/>
            <a:ext cx="220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cazas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3246120"/>
            <a:ext cx="21312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Hará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caza y sumar o restar encuentros.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Especie, juego y método.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guardado en el teléfono.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02254" y="1371600"/>
            <a:ext cx="2533574" cy="3200400"/>
          </a:xfrm>
          <a:prstGeom prst="roundRect">
            <a:avLst>
              <a:gd name="adj" fmla="val 2887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pic>
        <p:nvPicPr>
          <p:cNvPr id="12" name="Image 2" descr="C:\Users\REZer\AppData\Local\Temp\claude\C--Users-REZer-OneDrive-Documents-avance\839dfa0c-4f16-478c-8d69-b141916bcacb\scratchpad\poke\xspr-19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541" y="1572768"/>
            <a:ext cx="1143000" cy="11430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03422" y="1572768"/>
            <a:ext cx="365760" cy="365760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60342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566846" y="2852928"/>
            <a:ext cx="220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y probabilidad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603422" y="3246120"/>
            <a:ext cx="21312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Hará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grande con ±1 y ±10.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Encuentros y probabilidad del método.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acumulada y avance.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55868" y="1371600"/>
            <a:ext cx="2533574" cy="3200400"/>
          </a:xfrm>
          <a:prstGeom prst="roundRect">
            <a:avLst>
              <a:gd name="adj" fmla="val 2887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pic>
        <p:nvPicPr>
          <p:cNvPr id="18" name="Image 3" descr="C:\Users\REZer\AppData\Local\Temp\claude\C--Users-REZer-OneDrive-Documents-avance\839dfa0c-4f16-478c-8d69-b141916bcacb\scratchpad\poke\xspr-1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155" y="1572768"/>
            <a:ext cx="1143000" cy="11430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57036" y="1572768"/>
            <a:ext cx="365760" cy="365760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457036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420460" y="2852928"/>
            <a:ext cx="220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ánimo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57036" y="3246120"/>
            <a:ext cx="21312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Hará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cada 100 encuentros.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nuevo del contador.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del Milestone alcanzado.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109481" y="1371600"/>
            <a:ext cx="2533574" cy="3200400"/>
          </a:xfrm>
          <a:prstGeom prst="roundRect">
            <a:avLst>
              <a:gd name="adj" fmla="val 2887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pic>
        <p:nvPicPr>
          <p:cNvPr id="24" name="Image 4" descr="C:\Users\REZer\AppData\Local\Temp\claude\C--Users-REZer-OneDrive-Documents-avance\839dfa0c-4f16-478c-8d69-b141916bcacb\scratchpad\poke\xspr-13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4768" y="1572768"/>
            <a:ext cx="1143000" cy="11430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310649" y="1572768"/>
            <a:ext cx="365760" cy="365760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9310649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274073" y="2852928"/>
            <a:ext cx="220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Pokédex shiny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9310649" y="3246120"/>
            <a:ext cx="21312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Hará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las 251 especies en normal o shiny.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PokéAPI y caché local.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con tipos y estadísticas.</a:t>
            </a:r>
            <a:endParaRPr lang="en-US" sz="1100" dirty="0"/>
          </a:p>
        </p:txBody>
      </p:sp>
      <p:pic>
        <p:nvPicPr>
          <p:cNvPr id="29" name="Image 5" descr="C:\Users\REZer\AppData\Local\Temp\claude\C--Users-REZer-OneDrive-Documents-avance\839dfa0c-4f16-478c-8d69-b141916bcacb\scratchpad\poke\art-245.png">    </p:cNvPr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457200" y="4800600"/>
            <a:ext cx="1920240" cy="1920240"/>
          </a:xfrm>
          <a:prstGeom prst="rect">
            <a:avLst/>
          </a:prstGeom>
        </p:spPr>
      </p:pic>
      <p:pic>
        <p:nvPicPr>
          <p:cNvPr id="30" name="Image 6" descr="C:\Users\REZer\AppData\Local\Temp\claude\C--Users-REZer-OneDrive-Documents-avance\839dfa0c-4f16-478c-8d69-b141916bcacb\scratchpad\poke\art-251.png">    </p:cNvPr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9875520" y="48463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EZer\AppData\Local\Temp\claude\C--Users-REZer-OneDrive-Documents-avance\839dfa0c-4f16-478c-8d69-b141916bcacb\scratchpad\logo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0698480" y="91440"/>
            <a:ext cx="1280160" cy="1280160"/>
          </a:xfrm>
          <a:prstGeom prst="rect">
            <a:avLst/>
          </a:prstGeom>
        </p:spPr>
      </p:pic>
      <p:pic>
        <p:nvPicPr>
          <p:cNvPr id="3" name="Image 1" descr="C:\Users\REZer\AppData\Local\Temp\claude\C--Users-REZer-OneDrive-Documents-avance\839dfa0c-4f16-478c-8d69-b141916bcacb\scratchpad\poke\art-245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7863840" y="47091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84048"/>
            <a:ext cx="9265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JUSTIFICACIÓN TÉCNICA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640080"/>
            <a:ext cx="9265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la voy a construir?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298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(MVVM)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48640" y="160020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1709928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196596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+ Material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0" y="2368296"/>
            <a:ext cx="182880" cy="164592"/>
          </a:xfrm>
          <a:prstGeom prst="downArrow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256032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9808" y="2670048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92608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StateFlow · estado de pantalla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0" y="3328416"/>
            <a:ext cx="182880" cy="164592"/>
          </a:xfrm>
          <a:prstGeom prst="downArrow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52044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9808" y="3630168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" y="388620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negocio: probabilidad, métodos, Milestones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00400" y="4288536"/>
            <a:ext cx="182880" cy="164592"/>
          </a:xfrm>
          <a:prstGeom prst="downArrow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448056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13232" y="45994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/ SQLite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13232" y="486460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Cazas y caché del Pokédex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83280" y="448056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547872" y="45994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+ OkHttp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3547872" y="486460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PokéAPI (solo lectura, HTTPS)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55595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vivirá en los repositorios y los modelos. La red solo alimentará el catálogo.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492240" y="1298448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QUE USARÉ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92240" y="1591056"/>
            <a:ext cx="5150815" cy="457200"/>
          </a:xfrm>
          <a:prstGeom prst="roundRect">
            <a:avLst>
              <a:gd name="adj" fmla="val 10000"/>
            </a:avLst>
          </a:prstGeom>
          <a:solidFill>
            <a:srgbClr val="17171C"/>
          </a:solidFill>
          <a:ln w="6350">
            <a:solidFill>
              <a:srgbClr val="17171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675120" y="16550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8229600" y="165506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675120" y="21579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8229600" y="215798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+ Material 3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492240" y="2596896"/>
            <a:ext cx="5150815" cy="457200"/>
          </a:xfrm>
          <a:prstGeom prst="roundRect">
            <a:avLst>
              <a:gd name="adj" fmla="val 10000"/>
            </a:avLst>
          </a:prstGeom>
          <a:solidFill>
            <a:srgbClr val="17171C"/>
          </a:solidFill>
          <a:ln w="6350">
            <a:solidFill>
              <a:srgbClr val="17171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675120" y="266090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8229600" y="266090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con StateFlow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6675120" y="31638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316382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sobre SQLite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492240" y="3602736"/>
            <a:ext cx="5150815" cy="457200"/>
          </a:xfrm>
          <a:prstGeom prst="roundRect">
            <a:avLst>
              <a:gd name="adj" fmla="val 10000"/>
            </a:avLst>
          </a:prstGeom>
          <a:solidFill>
            <a:srgbClr val="17171C"/>
          </a:solidFill>
          <a:ln w="6350">
            <a:solidFill>
              <a:srgbClr val="17171C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675120" y="366674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8229600" y="366674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+ Gson sobre OkHttp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6675120" y="4169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8229600" y="416966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6492240" y="4608576"/>
            <a:ext cx="5150815" cy="457200"/>
          </a:xfrm>
          <a:prstGeom prst="roundRect">
            <a:avLst>
              <a:gd name="adj" fmla="val 10000"/>
            </a:avLst>
          </a:prstGeom>
          <a:solidFill>
            <a:srgbClr val="17171C"/>
          </a:solidFill>
          <a:ln w="6350">
            <a:solidFill>
              <a:srgbClr val="17171C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675120" y="46725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1050" dirty="0"/>
          </a:p>
        </p:txBody>
      </p:sp>
      <p:sp>
        <p:nvSpPr>
          <p:cNvPr id="44" name="Text 40"/>
          <p:cNvSpPr txBox="1"/>
          <p:nvPr/>
        </p:nvSpPr>
        <p:spPr>
          <a:xfrm>
            <a:off x="8229600" y="467258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Compose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6675120" y="517550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050" dirty="0"/>
          </a:p>
        </p:txBody>
      </p:sp>
      <p:sp>
        <p:nvSpPr>
          <p:cNvPr id="46" name="Text 42"/>
          <p:cNvSpPr txBox="1"/>
          <p:nvPr/>
        </p:nvSpPr>
        <p:spPr>
          <a:xfrm>
            <a:off x="8229600" y="517550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· Android Gradle Plugin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492240" y="5614416"/>
            <a:ext cx="5150815" cy="457200"/>
          </a:xfrm>
          <a:prstGeom prst="roundRect">
            <a:avLst>
              <a:gd name="adj" fmla="val 10000"/>
            </a:avLst>
          </a:prstGeom>
          <a:solidFill>
            <a:srgbClr val="17171C"/>
          </a:solidFill>
          <a:ln w="6350">
            <a:solidFill>
              <a:srgbClr val="17171C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675120" y="56784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050" dirty="0"/>
          </a:p>
        </p:txBody>
      </p:sp>
      <p:sp>
        <p:nvSpPr>
          <p:cNvPr id="49" name="Text 45"/>
          <p:cNvSpPr txBox="1"/>
          <p:nvPr/>
        </p:nvSpPr>
        <p:spPr>
          <a:xfrm>
            <a:off x="8229600" y="5678424"/>
            <a:ext cx="3230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· detekt · Android Lint · Jenkins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EZer\AppData\Local\Temp\claude\C--Users-REZer-OneDrive-Documents-avance\839dfa0c-4f16-478c-8d69-b141916bcacb\scratchpad\logo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0698480" y="91440"/>
            <a:ext cx="1280160" cy="1280160"/>
          </a:xfrm>
          <a:prstGeom prst="rect">
            <a:avLst/>
          </a:prstGeom>
        </p:spPr>
      </p:pic>
      <p:pic>
        <p:nvPicPr>
          <p:cNvPr id="3" name="Image 1" descr="C:\Users\REZer\AppData\Local\Temp\claude\C--Users-REZer-OneDrive-Documents-avance\839dfa0c-4f16-478c-8d69-b141916bcacb\scratchpad\poke\art-245.png">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9326880" y="470916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84048"/>
            <a:ext cx="9265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VALIDACIÓN DE COMPLEJIDAD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640080"/>
            <a:ext cx="9265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lógica será propia, no solo consumir una API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298448"/>
            <a:ext cx="3484778" cy="2377440"/>
          </a:xfrm>
          <a:prstGeom prst="roundRect">
            <a:avLst>
              <a:gd name="adj" fmla="val 3077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49808" y="1481328"/>
            <a:ext cx="384048" cy="384048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1517904"/>
            <a:ext cx="2616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propia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68096" y="2011680"/>
            <a:ext cx="304586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probabilidad acumulada: P = 1 − (1 − 1/d)ⁿ.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11 métodos de Gen II con sus reglas.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Milestones: el mismo Milestone dará siempre el mismo mensaje.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cada caza: contador, encontrada, reinicio.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53458" y="1298448"/>
            <a:ext cx="3484778" cy="2377440"/>
          </a:xfrm>
          <a:prstGeom prst="roundRect">
            <a:avLst>
              <a:gd name="adj" fmla="val 3077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54626" y="1481328"/>
            <a:ext cx="384048" cy="384048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5462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039258" y="1517904"/>
            <a:ext cx="2616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automáticas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914" y="2011680"/>
            <a:ext cx="304586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métodos mostrar según el juego: el Odd Egg solo existirá en Crystal.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contador llegó a un Milestone y qué mensaje corresponde.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pantalla abrir según haya o no una generación guardada.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58277" y="1298448"/>
            <a:ext cx="3484778" cy="2377440"/>
          </a:xfrm>
          <a:prstGeom prst="roundRect">
            <a:avLst>
              <a:gd name="adj" fmla="val 3077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59445" y="1481328"/>
            <a:ext cx="384048" cy="384048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59445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844077" y="1517904"/>
            <a:ext cx="2616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automatizados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377733" y="2011680"/>
            <a:ext cx="304586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y cachear el Pokédex: decidirá solo entre la red y Room.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Recalcular probabilidad, barra de avance y totales al cambiar el contador.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48640" y="3977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2960" y="41422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LA API EXTERNA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822960" y="4361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≈15 %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3520440" y="4178808"/>
            <a:ext cx="7848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PokéAPI solo dará el catálogo: nombres y sprites de las 251 especies. Los cálculos, las reglas de los métodos, la persistencia y los Milestones serán código propio y funcionarán sin conexión.</a:t>
            </a:r>
            <a:endParaRPr lang="en-US" sz="1150" dirty="0"/>
          </a:p>
        </p:txBody>
      </p:sp>
      <p:pic>
        <p:nvPicPr>
          <p:cNvPr id="25" name="Image 2" descr="C:\Users\REZer\AppData\Local\Temp\claude\C--Users-REZer-OneDrive-Documents-avance\839dfa0c-4f16-478c-8d69-b141916bcacb\scratchpad\poke\xspr-181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48640" y="5440680"/>
            <a:ext cx="731520" cy="731520"/>
          </a:xfrm>
          <a:prstGeom prst="rect">
            <a:avLst/>
          </a:prstGeom>
        </p:spPr>
      </p:pic>
      <p:pic>
        <p:nvPicPr>
          <p:cNvPr id="26" name="Image 3" descr="C:\Users\REZer\AppData\Local\Temp\claude\C--Users-REZer-OneDrive-Documents-avance\839dfa0c-4f16-478c-8d69-b141916bcacb\scratchpad\poke\xspr-196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1463040" y="5440680"/>
            <a:ext cx="731520" cy="731520"/>
          </a:xfrm>
          <a:prstGeom prst="rect">
            <a:avLst/>
          </a:prstGeom>
        </p:spPr>
      </p:pic>
      <p:pic>
        <p:nvPicPr>
          <p:cNvPr id="27" name="Image 4" descr="C:\Users\REZer\AppData\Local\Temp\claude\C--Users-REZer-OneDrive-Documents-avance\839dfa0c-4f16-478c-8d69-b141916bcacb\scratchpad\poke\xspr-197.png">    </p:cNvPr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2377440" y="5440680"/>
            <a:ext cx="731520" cy="731520"/>
          </a:xfrm>
          <a:prstGeom prst="rect">
            <a:avLst/>
          </a:prstGeom>
        </p:spPr>
      </p:pic>
      <p:pic>
        <p:nvPicPr>
          <p:cNvPr id="28" name="Image 5" descr="C:\Users\REZer\AppData\Local\Temp\claude\C--Users-REZer-OneDrive-Documents-avance\839dfa0c-4f16-478c-8d69-b141916bcacb\scratchpad\poke\xspr-130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3291840" y="5440680"/>
            <a:ext cx="731520" cy="731520"/>
          </a:xfrm>
          <a:prstGeom prst="rect">
            <a:avLst/>
          </a:prstGeom>
        </p:spPr>
      </p:pic>
      <p:pic>
        <p:nvPicPr>
          <p:cNvPr id="29" name="Image 6" descr="C:\Users\REZer\AppData\Local\Temp\claude\C--Users-REZer-OneDrive-Documents-avance\839dfa0c-4f16-478c-8d69-b141916bcacb\scratchpad\poke\xspr-172.png">    </p:cNvPr>
          <p:cNvPicPr>
            <a:picLocks noChangeAspect="1"/>
          </p:cNvPicPr>
          <p:nvPr/>
        </p:nvPicPr>
        <p:blipFill>
          <a:blip r:embed="rId7">
            <a:alphaModFix amt="55000"/>
          </a:blip>
          <a:stretch>
            <a:fillRect/>
          </a:stretch>
        </p:blipFill>
        <p:spPr>
          <a:xfrm>
            <a:off x="4206240" y="54406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EZer\AppData\Local\Temp\claude\C--Users-REZer-OneDrive-Documents-avance\839dfa0c-4f16-478c-8d69-b141916bcacb\scratchpad\logo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0698480" y="914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265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ESTRATEGIA DEVSECOPS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9265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dentro del pipeline, no al final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298448"/>
            <a:ext cx="1459513" cy="640080"/>
          </a:xfrm>
          <a:prstGeom prst="roundRect">
            <a:avLst>
              <a:gd name="adj" fmla="val 11429"/>
            </a:avLst>
          </a:prstGeom>
          <a:solidFill>
            <a:srgbClr val="1E1E2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98448"/>
            <a:ext cx="14595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54457" y="1298448"/>
            <a:ext cx="1459513" cy="640080"/>
          </a:xfrm>
          <a:prstGeom prst="roundRect">
            <a:avLst>
              <a:gd name="adj" fmla="val 11429"/>
            </a:avLst>
          </a:prstGeom>
          <a:solidFill>
            <a:srgbClr val="1E1E2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54457" y="1298448"/>
            <a:ext cx="14595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60274" y="1298448"/>
            <a:ext cx="1459513" cy="640080"/>
          </a:xfrm>
          <a:prstGeom prst="roundRect">
            <a:avLst>
              <a:gd name="adj" fmla="val 11429"/>
            </a:avLst>
          </a:prstGeom>
          <a:solidFill>
            <a:srgbClr val="1E1E2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60274" y="1298448"/>
            <a:ext cx="14595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66091" y="1298448"/>
            <a:ext cx="1459513" cy="640080"/>
          </a:xfrm>
          <a:prstGeom prst="roundRect">
            <a:avLst>
              <a:gd name="adj" fmla="val 11429"/>
            </a:avLst>
          </a:prstGeom>
          <a:solidFill>
            <a:srgbClr val="1E1E2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66091" y="1298448"/>
            <a:ext cx="14595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71908" y="1298448"/>
            <a:ext cx="1459513" cy="640080"/>
          </a:xfrm>
          <a:prstGeom prst="roundRect">
            <a:avLst>
              <a:gd name="adj" fmla="val 11429"/>
            </a:avLst>
          </a:prstGeom>
          <a:solidFill>
            <a:srgbClr val="1E1E2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71908" y="1298448"/>
            <a:ext cx="14595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77725" y="1298448"/>
            <a:ext cx="1459513" cy="640080"/>
          </a:xfrm>
          <a:prstGeom prst="roundRect">
            <a:avLst>
              <a:gd name="adj" fmla="val 11429"/>
            </a:avLst>
          </a:prstGeom>
          <a:solidFill>
            <a:srgbClr val="1E1E2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77725" y="1298448"/>
            <a:ext cx="14595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183542" y="1298448"/>
            <a:ext cx="1459513" cy="640080"/>
          </a:xfrm>
          <a:prstGeom prst="roundRect">
            <a:avLst>
              <a:gd name="adj" fmla="val 11429"/>
            </a:avLst>
          </a:prstGeom>
          <a:solidFill>
            <a:srgbClr val="1E1E2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183542" y="1298448"/>
            <a:ext cx="14595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0299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que montaré en Jenkins.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2468880"/>
            <a:ext cx="5364328" cy="1645920"/>
          </a:xfrm>
          <a:prstGeom prst="roundRect">
            <a:avLst>
              <a:gd name="adj" fmla="val 444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4672" y="2651760"/>
            <a:ext cx="485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" y="2953512"/>
            <a:ext cx="485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GitHub, con ramas main / develop / feature.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con revisión antes de integrar.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 con las versiones de todas las librerías.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78728" y="2468880"/>
            <a:ext cx="5364328" cy="1645920"/>
          </a:xfrm>
          <a:prstGeom prst="roundRect">
            <a:avLst>
              <a:gd name="adj" fmla="val 444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34760" y="2651760"/>
            <a:ext cx="485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534760" y="2953512"/>
            <a:ext cx="485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4 para las unitarias: probabilidad, Milestones y reglas de métodos.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UI Test y Espresso para las pruebas de interfaz en emulador.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JUnit XML en Jenkins: si una prueba falla, el build se detiene.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251960"/>
            <a:ext cx="5364328" cy="1645920"/>
          </a:xfrm>
          <a:prstGeom prst="roundRect">
            <a:avLst>
              <a:gd name="adj" fmla="val 444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4672" y="4434840"/>
            <a:ext cx="485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SEGURIDAD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4672" y="4736592"/>
            <a:ext cx="485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SAST: detekt y Android Lint.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SCA: OWASP Dependency-Check sobre las librerías.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DAST: MobSF sobre el APK y OWASP ZAP en el tráfico.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278728" y="4251960"/>
            <a:ext cx="5364328" cy="1645920"/>
          </a:xfrm>
          <a:prstGeom prst="roundRect">
            <a:avLst>
              <a:gd name="adj" fmla="val 4444"/>
            </a:avLst>
          </a:prstGeom>
          <a:solidFill>
            <a:srgbClr val="17171C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34760" y="4434840"/>
            <a:ext cx="485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EN LA APLICACIÓN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534760" y="4736592"/>
            <a:ext cx="485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HTTPS, sin tráfico en claro.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privada, fuera de los respaldos.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mínimos y ofuscación en release.</a:t>
            </a:r>
            <a:endParaRPr lang="en-US" sz="1100" dirty="0"/>
          </a:p>
        </p:txBody>
      </p:sp>
      <p:pic>
        <p:nvPicPr>
          <p:cNvPr id="32" name="Image 1" descr="C:\Users\REZer\AppData\Local\Temp\claude\C--Users-REZer-OneDrive-Documents-avance\839dfa0c-4f16-478c-8d69-b141916bcacb\scratchpad\poke\xspr-250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0378440" y="6080760"/>
            <a:ext cx="548640" cy="548640"/>
          </a:xfrm>
          <a:prstGeom prst="rect">
            <a:avLst/>
          </a:prstGeom>
        </p:spPr>
      </p:pic>
      <p:pic>
        <p:nvPicPr>
          <p:cNvPr id="33" name="Image 2" descr="C:\Users\REZer\AppData\Local\Temp\claude\C--Users-REZer-OneDrive-Documents-avance\839dfa0c-4f16-478c-8d69-b141916bcacb\scratchpad\poke\xspr-251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073384" y="6080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EZer\AppData\Local\Temp\claude\C--Users-REZer-OneDrive-Documents-avance\839dfa0c-4f16-478c-8d69-b141916bcacb\scratchpad\logo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0698480" y="91440"/>
            <a:ext cx="1280160" cy="1280160"/>
          </a:xfrm>
          <a:prstGeom prst="rect">
            <a:avLst/>
          </a:prstGeom>
        </p:spPr>
      </p:pic>
      <p:pic>
        <p:nvPicPr>
          <p:cNvPr id="3" name="Image 1" descr="C:\Users\REZer\AppData\Local\Temp\claude\C--Users-REZer-OneDrive-Documents-avance\839dfa0c-4f16-478c-8d69-b141916bcacb\scratchpad\poke\art-249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7635240" y="3611880"/>
            <a:ext cx="2834640" cy="2834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384048"/>
            <a:ext cx="9265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 8 · PLANEACIÓN Y AVANCE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640080"/>
            <a:ext cx="9265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y avance actual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298448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DESARROLLO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48640" y="1719072"/>
            <a:ext cx="420624" cy="420624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115568" y="1664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Prototipo y base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257800" y="1691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115568" y="197510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Pantallas, modelo de datos y catálogo de métodos.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798064"/>
            <a:ext cx="420624" cy="420624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15568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Funcionalidad completa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257800" y="2770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115568" y="305409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Contadores, probabilidad, Milestones y Pokédex conectados. Entregable: versión 0.5.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115568" y="3822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DevSecOps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5257800" y="3849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1115568" y="413308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Jenkins con SAST, SCA y DAST. Entregable: reportes de seguridad.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4956048"/>
            <a:ext cx="420624" cy="420624"/>
          </a:xfrm>
          <a:prstGeom prst="ellipse">
            <a:avLst/>
          </a:prstGeom>
          <a:solidFill>
            <a:srgbClr val="1E1E2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115568" y="49011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Caza compartida y cierre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5257800" y="4928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115568" y="52120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Unirse a una caza por enlace, pruebas y APK firmado. Entregable: versión 1.0.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7498080" y="1298448"/>
            <a:ext cx="4144975" cy="2148840"/>
          </a:xfrm>
          <a:prstGeom prst="roundRect">
            <a:avLst>
              <a:gd name="adj" fmla="val 3404"/>
            </a:avLst>
          </a:prstGeom>
          <a:solidFill>
            <a:srgbClr val="1E1E24"/>
          </a:solidFill>
          <a:ln w="12700">
            <a:solidFill>
              <a:srgbClr val="32323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72400" y="1508760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ACTUAL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72400" y="1828800"/>
            <a:ext cx="35963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navegable con las cuatro pantallas.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catálogo de 11 métodos definidos.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 y pipeline redactados.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ShinyDex - Propuesta de Proyecto</dc:title>
  <dc:subject>PptxGenJS Presentation</dc:subject>
  <dc:creator>ShinyDex</dc:creator>
  <cp:lastModifiedBy>ShinyDex</cp:lastModifiedBy>
  <cp:revision>1</cp:revision>
  <dcterms:created xsi:type="dcterms:W3CDTF">2026-08-29T04:45:51Z</dcterms:created>
  <dcterms:modified xsi:type="dcterms:W3CDTF">2026-08-29T04:45:51Z</dcterms:modified>
</cp:coreProperties>
</file>